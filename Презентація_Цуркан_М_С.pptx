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64008"/>
          </a:xfrm>
          <a:prstGeom prst="rect">
            <a:avLst/>
          </a:prstGeom>
          <a:solidFill>
            <a:srgbClr val="6BD4C8"/>
          </a:solidFill>
          <a:ln w="12700">
            <a:solidFill>
              <a:srgbClr val="6BD4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Курсова робота на тему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ІЄРАРХІЇ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КЛАСІВ «СИСТЕМА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УПРАВЛІННЯ ОСОБАМИ»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4160520"/>
            <a:ext cx="8823960" cy="914400"/>
          </a:xfrm>
          <a:prstGeom prst="rect">
            <a:avLst/>
          </a:prstGeom>
          <a:solidFill>
            <a:srgbClr val="2C3458"/>
          </a:solidFill>
          <a:ln w="12700">
            <a:solidFill>
              <a:srgbClr val="2C34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24528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Роботу виконала студентка 1 курсу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Групи КІ,  Цуркан М.С.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4914900"/>
            <a:ext cx="8979408" cy="228600"/>
          </a:xfrm>
          <a:prstGeom prst="rect">
            <a:avLst/>
          </a:prstGeom>
          <a:solidFill>
            <a:srgbClr val="2C3458"/>
          </a:solidFill>
          <a:ln w="12700">
            <a:solidFill>
              <a:srgbClr val="2C34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331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Цуркан М.С. | Курсова робота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Метою роботи є проєктування та розробка програми мовою C++, що забезпечує такі можливості: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321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класу Person з полями: ПІБ, зріст, вага, стать, країна, email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спадкоємці: Worker (Робітник) та Electrician (Електрик)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Перевизначення оператора &lt;&lt; (вставки в потік) у кожному класі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Програмна система з можливістю додавання, видалення та виведення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по базі та виведення за типом об'єкта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Гнучкий сценарій через текстове меню для вибору дій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Діаграма класів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4914900"/>
            <a:ext cx="8979408" cy="228600"/>
          </a:xfrm>
          <a:prstGeom prst="rect">
            <a:avLst/>
          </a:prstGeom>
          <a:solidFill>
            <a:srgbClr val="2C3458"/>
          </a:solidFill>
          <a:ln w="12700">
            <a:solidFill>
              <a:srgbClr val="2C34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331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Цуркан М.С. | Курсова робота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0" y="914400"/>
            <a:ext cx="2194560" cy="502920"/>
          </a:xfrm>
          <a:prstGeom prst="rect">
            <a:avLst/>
          </a:prstGeom>
          <a:solidFill>
            <a:srgbClr val="1A1F36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914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63040" y="2057400"/>
            <a:ext cx="2011680" cy="457200"/>
          </a:xfrm>
          <a:prstGeom prst="rect">
            <a:avLst/>
          </a:prstGeom>
          <a:solidFill>
            <a:srgbClr val="4F8EF7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304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2057400"/>
            <a:ext cx="2286000" cy="457200"/>
          </a:xfrm>
          <a:prstGeom prst="rect">
            <a:avLst/>
          </a:prstGeom>
          <a:solidFill>
            <a:srgbClr val="4F8EF7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2057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2057400"/>
            <a:ext cx="2011680" cy="457200"/>
          </a:xfrm>
          <a:prstGeom prst="rect">
            <a:avLst/>
          </a:prstGeom>
          <a:solidFill>
            <a:srgbClr val="2C3458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3246120"/>
            <a:ext cx="2194560" cy="457200"/>
          </a:xfrm>
          <a:prstGeom prst="rect">
            <a:avLst/>
          </a:prstGeom>
          <a:solidFill>
            <a:srgbClr val="6BD4C8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417320"/>
            <a:ext cx="-2103120" cy="640080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417320"/>
            <a:ext cx="502920" cy="640080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286000"/>
            <a:ext cx="3657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989320" y="2176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74920" y="2514600"/>
            <a:ext cx="0" cy="731520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2514600"/>
            <a:ext cx="2606040" cy="731520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297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Спадкування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407408"/>
            <a:ext cx="457200" cy="0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 Person — Варіант 19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4914900"/>
            <a:ext cx="8979408" cy="228600"/>
          </a:xfrm>
          <a:prstGeom prst="rect">
            <a:avLst/>
          </a:prstGeom>
          <a:solidFill>
            <a:srgbClr val="2C3458"/>
          </a:solidFill>
          <a:ln w="12700">
            <a:solidFill>
              <a:srgbClr val="2C34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331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Цуркан М.С. | Курсова робота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840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3840480" cy="4114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fullName   — ПІБ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height         — зріст (см)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weight   — вага (кг)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gender    — стать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country   — країна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email      — ел. пошта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914400"/>
            <a:ext cx="43891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914400"/>
            <a:ext cx="438912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914400"/>
            <a:ext cx="429768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 варіанту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37160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isTallerThan200() — чи має зріст понад 200 см?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livesInUkraine()   — чи живе в Україні?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to_string()          — представлення об'єкта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operator&lt;&lt;         — вставка в потік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operator=           — присвоєння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operator==         — порівняння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 Worker (Робітник)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4914900"/>
            <a:ext cx="8979408" cy="228600"/>
          </a:xfrm>
          <a:prstGeom prst="rect">
            <a:avLst/>
          </a:prstGeom>
          <a:solidFill>
            <a:srgbClr val="2C3458"/>
          </a:solidFill>
          <a:ln w="12700">
            <a:solidFill>
              <a:srgbClr val="2C34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331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Цуркан М.С. | Курсова робота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Обов'язковий спадкоємець класу Person. Містить додаткові поля та методи для роботи з персоналом заводу.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3657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365760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63040"/>
            <a:ext cx="35661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Додаткові поля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901952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factory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завод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position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посада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salary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оклад (грн)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463040"/>
            <a:ext cx="45720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463040"/>
            <a:ext cx="4572000" cy="38404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463040"/>
            <a:ext cx="448056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1920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increaseSalary()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0" y="217627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збільшує оклад залежно від посади: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директор +30%, менеджер +20%,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інженер +15%, технік +10%, решта +5%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0" y="26060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changePosition(pos)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89120" y="286207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змінює посаду робітника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0" y="3291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to_string()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89120" y="354787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повертає рядкове представлення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0" y="3977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operator&lt;&lt;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0" y="423367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виводить об'єкт у потік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 Electrician (Електрик) та Object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4914900"/>
            <a:ext cx="8979408" cy="228600"/>
          </a:xfrm>
          <a:prstGeom prst="rect">
            <a:avLst/>
          </a:prstGeom>
          <a:solidFill>
            <a:srgbClr val="2C3458"/>
          </a:solidFill>
          <a:ln w="12700">
            <a:solidFill>
              <a:srgbClr val="2C34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331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Цуркан М.С. | Курсова робота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200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3200400" cy="365760"/>
          </a:xfrm>
          <a:prstGeom prst="rect">
            <a:avLst/>
          </a:prstGeom>
          <a:solidFill>
            <a:srgbClr val="2C3458"/>
          </a:solidFill>
          <a:ln w="12700">
            <a:solidFill>
              <a:srgbClr val="2C34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310896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 Object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 є нащадком Person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minExperience  — мін. стаж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minGrade  — мін. розряд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3200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788920"/>
            <a:ext cx="3200400" cy="3657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Electrician — поля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experience  — стаж (роки)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grade  — розряд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Object* currentObject  — поточний об'єкт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49040" y="914400"/>
            <a:ext cx="5074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914400"/>
            <a:ext cx="5074920" cy="3657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914400"/>
            <a:ext cx="498348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 Electrician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13533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canWorkOnObject()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8620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перевіряє допуск до поточного об'єкта за стажем та розрядом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86200" y="19842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canWorkOnObject(obj)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86200" y="22311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перевіряє допуск до переданого об'єкта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86200" y="26151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changeObject(newObj)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86200" y="28620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змінює поточний об'єкт; повертає true якщо електрик підходить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86200" y="32461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to_string()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86200" y="3493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повертає рядкове представлення об'єкта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86200" y="38770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operator&lt;&lt;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86200" y="41239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виводить електрика у потік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 PersonSystem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4914900"/>
            <a:ext cx="8979408" cy="228600"/>
          </a:xfrm>
          <a:prstGeom prst="rect">
            <a:avLst/>
          </a:prstGeom>
          <a:solidFill>
            <a:srgbClr val="2C3458"/>
          </a:solidFill>
          <a:ln w="12700">
            <a:solidFill>
              <a:srgbClr val="2C34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331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Цуркан М.С. | Курсова робота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Використовує вектор вказівників на Person для зберігання об'єктів усіх типів.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057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71600"/>
            <a:ext cx="205740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716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82880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addPerson / addWorker / addElectrician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removeByName(name)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removeByIndex(idx)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371600"/>
            <a:ext cx="2057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371600"/>
            <a:ext cx="2057400" cy="38404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3716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Виведення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78608" y="182880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printAll()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printWorkers()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printElectricians()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2057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371600"/>
            <a:ext cx="2057400" cy="384048"/>
          </a:xfrm>
          <a:prstGeom prst="rect">
            <a:avLst/>
          </a:prstGeom>
          <a:solidFill>
            <a:srgbClr val="2C3458"/>
          </a:solidFill>
          <a:ln w="12700">
            <a:solidFill>
              <a:srgbClr val="2C34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3716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182880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findByName(name)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findIndex(name)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findByType(type)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1371600"/>
            <a:ext cx="2057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371600"/>
            <a:ext cx="2057400" cy="384048"/>
          </a:xfrm>
          <a:prstGeom prst="rect">
            <a:avLst/>
          </a:prstGeom>
          <a:solidFill>
            <a:srgbClr val="2E7D6F"/>
          </a:solidFill>
          <a:ln w="12700">
            <a:solidFill>
              <a:srgbClr val="2E7D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3716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67728" y="182880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addObject(obj)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findObject(name)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printElectriciansForObject(name)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main.cpp — Меню програми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4914900"/>
            <a:ext cx="8979408" cy="228600"/>
          </a:xfrm>
          <a:prstGeom prst="rect">
            <a:avLst/>
          </a:prstGeom>
          <a:solidFill>
            <a:srgbClr val="2C3458"/>
          </a:solidFill>
          <a:ln w="12700">
            <a:solidFill>
              <a:srgbClr val="2C34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3318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Цуркан М.С. | Курсова робота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Гнучкий сценарій роботи реалізований через текстове меню. Користувач обирає дії в довільному порядку.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3931920" cy="32918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463040"/>
            <a:ext cx="365760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Додати Person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Додати Worker (Робітник)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Додати Electrician (Електрик)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Видалити за ім'ям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Видалити за індексом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 Вивести всіх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 Вивести лише Workers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 Вивести лише Electricians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 Пошук за ім'ям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26280" y="1371600"/>
            <a:ext cx="4297680" cy="32918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463040"/>
            <a:ext cx="39776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Збільшити оклад робітника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 Змінити посаду робітника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 Перевірити допуск електрика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 Змінити об'єкт електрика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 Додати об'єкт (довідник)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 Вивести об'єкти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 Електрики для об'єкта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  Вихід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26280" y="210312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╔══════════════════════╗</a:t>
            </a:r>
            <a:endParaRPr lang="en-US" sz="1" dirty="0"/>
          </a:p>
          <a:p>
            <a:pPr indent="0" marL="0">
              <a:buNone/>
            </a:pPr>
            <a:r>
              <a:rPr lang="en-US" sz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СИСТЕМА УПРАВЛІННЯ  ║</a:t>
            </a:r>
            <a:endParaRPr lang="en-US" sz="1" dirty="0"/>
          </a:p>
          <a:p>
            <a:pPr indent="0" marL="0">
              <a:buNone/>
            </a:pPr>
            <a:r>
              <a:rPr lang="en-US" sz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   ПЕРСОНАЛОМ       ║</a:t>
            </a:r>
            <a:endParaRPr lang="en-US" sz="1" dirty="0"/>
          </a:p>
          <a:p>
            <a:pPr indent="0" marL="0">
              <a:buNone/>
            </a:pPr>
            <a:r>
              <a:rPr lang="en-US" sz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╚══════════════════════╝</a:t>
            </a:r>
            <a:endParaRPr lang="en-US" sz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64008"/>
          </a:xfrm>
          <a:prstGeom prst="rect">
            <a:avLst/>
          </a:prstGeom>
          <a:solidFill>
            <a:srgbClr val="6BD4C8"/>
          </a:solidFill>
          <a:ln w="12700">
            <a:solidFill>
              <a:srgbClr val="6BD4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Висновок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Спроєктовано та реалізовано ієрархію класів Person → Worker / Electrician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всі обов'язкові методи: to_string(), operator&lt;&lt;, operator=, operator==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Розроблено клас Object для описання об'єктів, на яких працюють електрики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Створено клас PersonSystem для управління колекцією об'єктів усіх типів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повнофункціональне текстове меню з 16 пунктами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Програму написано мовою C++17 з використанням smart pointers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Цуркан М.С. | Курсова робота | C++ | 2025–2026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 робота — Ієрархія класів Person</dc:title>
  <dc:subject>PptxGenJS Presentation</dc:subject>
  <dc:creator>Цуркан М.С.</dc:creator>
  <cp:lastModifiedBy>Цуркан М.С.</cp:lastModifiedBy>
  <cp:revision>1</cp:revision>
  <dcterms:created xsi:type="dcterms:W3CDTF">2026-06-05T22:29:51Z</dcterms:created>
  <dcterms:modified xsi:type="dcterms:W3CDTF">2026-06-05T22:29:51Z</dcterms:modified>
</cp:coreProperties>
</file>